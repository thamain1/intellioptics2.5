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606040"/>
            <a:ext cx="594360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IntelliOptics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801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C9FF"/>
                </a:solidFill>
              </a:rPr>
              <a:t>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FF"/>
                </a:solidFill>
              </a:rPr>
              <a:t>AI-Powered Visual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6AAC8"/>
                </a:solidFill>
              </a:rPr>
              <a:t>Haile Hantal  |  Co-Founder, CXO  |  www.4wardmotions.com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Most organizations don't know their cameras are failing -- until it's too 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760720" cy="4937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17319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FF"/>
                </a:solidFill>
              </a:rPr>
              <a:t>WHAT WE HEAR FROM CLIENTS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"We reviewed the footage after the incident -- camera was offline for weeks"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"We have 200 cameras and no way to know which ones are working right now"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"Our team spends hours every week manually checking feeds"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"We had a misaligned camera for months and nobody noticed"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"When the auditor asked for footage, it wasn't there"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76072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19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FF"/>
                </a:solidFill>
              </a:rPr>
              <a:t>THE REAL COST</a:t>
            </a:r>
          </a:p>
          <a:p>
            <a:pPr algn="l"/>
            <a:r>
              <a:rPr sz="1100" b="0">
                <a:solidFill>
                  <a:srgbClr val="1E293B"/>
                </a:solidFill>
              </a:rPr>
              <a:t>50% of cameras experience issues in any given year</a:t>
            </a:r>
          </a:p>
          <a:p>
            <a:pPr algn="l"/>
            <a:r>
              <a:rPr sz="1100" b="0">
                <a:solidFill>
                  <a:srgbClr val="1E293B"/>
                </a:solidFill>
              </a:rPr>
              <a:t>Coverage gaps go undetected until a critical moment</a:t>
            </a:r>
          </a:p>
          <a:p>
            <a:pPr algn="l"/>
            <a:r>
              <a:rPr sz="1100" b="0">
                <a:solidFill>
                  <a:srgbClr val="1E293B"/>
                </a:solidFill>
              </a:rPr>
              <a:t>Manual monitoring cannot scale -- and does not sleep</a:t>
            </a:r>
          </a:p>
          <a:p>
            <a:pPr algn="l"/>
            <a:r>
              <a:rPr sz="1100" b="0">
                <a:solidFill>
                  <a:srgbClr val="1E293B"/>
                </a:solidFill>
              </a:rPr>
              <a:t>Compliance and liability exposure from missing footage</a:t>
            </a:r>
          </a:p>
          <a:p>
            <a:pPr algn="l"/>
            <a:r>
              <a:rPr sz="1100" b="0">
                <a:solidFill>
                  <a:srgbClr val="1E293B"/>
                </a:solidFill>
              </a:rPr>
              <a:t>Investigations delayed or derailed by unavailable video</a:t>
            </a:r>
          </a:p>
          <a:p>
            <a:pPr algn="l"/>
            <a:r>
              <a:rPr sz="1100" b="0">
                <a:solidFill>
                  <a:srgbClr val="1E293B"/>
                </a:solidFill>
              </a:rPr>
              <a:t>Security teams reactive instead of proactive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2651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"We're not more footage -</a:t>
            </a:r>
          </a:p>
          <a:p>
            <a:pPr algn="ctr"/>
            <a:r>
              <a:rPr sz="3000" b="1">
                <a:solidFill>
                  <a:srgbClr val="FFFFFF"/>
                </a:solidFill>
              </a:rPr>
              <a:t>we are the assurance that the footage exists."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C9FF"/>
                </a:solidFill>
              </a:rPr>
              <a:t>IntelliOptics doesn't just record. It watches, understands, and alerts.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663440"/>
            <a:ext cx="3566160" cy="16002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FF"/>
                </a:solidFill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Fully Operational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4663440"/>
            <a:ext cx="3566160" cy="16002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4754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FF"/>
                </a:solidFill>
              </a:rPr>
              <a:t>&lt;30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Alert Response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663440"/>
            <a:ext cx="3566160" cy="16002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4754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FF"/>
                </a:solidFill>
              </a:rPr>
              <a:t>24 /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486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Automated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IntelliOptics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Four integrated capabilities -- one unified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2834640" cy="512064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17319"/>
            <a:ext cx="2560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FF"/>
                </a:solidFill>
              </a:rPr>
              <a:t>INTELLIGENT DETECTION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Identifies objects, people, vehicles, and events across every feed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Works across hundreds of camera types without replacement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Detects what you define -- custom rules for your environment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Fires alerts the moment something out of the ordinary occurs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280160"/>
            <a:ext cx="2834640" cy="512064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417319"/>
            <a:ext cx="2560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FF"/>
                </a:solidFill>
              </a:rPr>
              <a:t>NATURAL LANGUAGE ANALYSIS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Ask your cameras questions in plain English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"Is the gate closed?"  "Is anyone in this zone?"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Read text, signs, and plates directly from camera feeds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Get answers -- not just footage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1280160"/>
            <a:ext cx="2834640" cy="512064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1417319"/>
            <a:ext cx="2560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FF"/>
                </a:solidFill>
              </a:rPr>
              <a:t>CAMERA HEALTH MONITORING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Inspects every camera automatically -- day and night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Detects blur, darkness, overexposure, and misalignment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Alerts your team before a coverage gap becomes a liability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Historical health reports and trend analytics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53144" y="1280160"/>
            <a:ext cx="283464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0304" y="1417319"/>
            <a:ext cx="2560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FF"/>
                </a:solidFill>
              </a:rPr>
              <a:t>OPERATIONAL INTELLIGENCE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Real-time dashboards across your entire camera estate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Automated reports -- delivered on your schedule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Audit logs ready for compliance reviews and investigations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Connects to your existing workflows via alerts and integrations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Detection with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Other systems tell you WHAT is there. IntelliOptics tells you what it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760720" cy="502920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05000"/>
                </a:solidFill>
              </a:rPr>
              <a:t>STANDARD AI DETECTION</a:t>
            </a:r>
          </a:p>
          <a:p>
            <a:pPr algn="l"/>
            <a:r>
              <a:rPr sz="1200" b="0">
                <a:solidFill>
                  <a:srgbClr val="783C00"/>
                </a:solidFill>
              </a:rPr>
              <a:t>'Person detected.'</a:t>
            </a:r>
          </a:p>
          <a:p>
            <a:pPr algn="l"/>
            <a:r>
              <a:rPr sz="1200" b="0">
                <a:solidFill>
                  <a:srgbClr val="783C00"/>
                </a:solidFill>
              </a:rPr>
              <a:t>'Vehicle detected.'</a:t>
            </a:r>
          </a:p>
          <a:p>
            <a:pPr algn="l"/>
            <a:r>
              <a:rPr sz="1200" b="0">
                <a:solidFill>
                  <a:srgbClr val="783C00"/>
                </a:solidFill>
              </a:rPr>
              <a:t>'Object detected.'</a:t>
            </a:r>
          </a:p>
          <a:p>
            <a:pPr algn="l"/>
            <a:endParaRPr sz="1200" b="0">
              <a:solidFill>
                <a:srgbClr val="783C00"/>
              </a:solidFill>
            </a:endParaRPr>
          </a:p>
          <a:p>
            <a:pPr algn="l"/>
            <a:r>
              <a:rPr sz="1100" b="0">
                <a:solidFill>
                  <a:srgbClr val="783C00"/>
                </a:solidFill>
              </a:rPr>
              <a:t>Your team still has to watch the footage,</a:t>
            </a:r>
          </a:p>
          <a:p>
            <a:pPr algn="l"/>
            <a:r>
              <a:rPr sz="1100" b="0">
                <a:solidFill>
                  <a:srgbClr val="783C00"/>
                </a:solidFill>
              </a:rPr>
              <a:t>interpret the alert, and decide what to do.</a:t>
            </a:r>
          </a:p>
          <a:p>
            <a:pPr algn="l"/>
            <a:endParaRPr sz="1100" b="0">
              <a:solidFill>
                <a:srgbClr val="783C00"/>
              </a:solidFill>
            </a:endParaRPr>
          </a:p>
          <a:p>
            <a:pPr algn="l"/>
            <a:r>
              <a:rPr sz="1200" b="1">
                <a:solidFill>
                  <a:srgbClr val="A05000"/>
                </a:solidFill>
              </a:rPr>
              <a:t>Detection without context is just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760720" cy="50292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FF"/>
                </a:solidFill>
              </a:rPr>
              <a:t>INTELLIOPTICS CONTEXTUAL INTELLIGENCE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'Person detected — is this an authorized employee?'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'Vehicle at gate — is this plate on the approved list?'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'Worker on site — is safety equipment being worn?'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'Camera triggered — does the scene match expectations?'</a:t>
            </a:r>
          </a:p>
          <a:p>
            <a:pPr algn="l"/>
            <a:endParaRPr sz="1100" b="0">
              <a:solidFill>
                <a:srgbClr val="FFFFFF"/>
              </a:solidFill>
            </a:endParaRPr>
          </a:p>
          <a:p>
            <a:pPr algn="l"/>
            <a:r>
              <a:rPr sz="1100" b="1">
                <a:solidFill>
                  <a:srgbClr val="00C9FF"/>
                </a:solidFill>
              </a:rPr>
              <a:t>Operators define the context. IntelliOptics answers it.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Every detection carries the meaning you need —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not just a bounding box, but a decision.</a:t>
            </a:r>
          </a:p>
          <a:p>
            <a:pPr algn="l"/>
            <a:endParaRPr sz="1100" b="0">
              <a:solidFill>
                <a:srgbClr val="F1F5F9"/>
              </a:solidFill>
            </a:endParaRPr>
          </a:p>
          <a:p>
            <a:pPr algn="l"/>
            <a:r>
              <a:rPr sz="1100" b="0">
                <a:solidFill>
                  <a:srgbClr val="F1F5F9"/>
                </a:solidFill>
              </a:rPr>
              <a:t>Context is layered on top of any detection,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at any camera, at any time — with no retraining.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Specialized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Purpose-built modules for your most demanding operational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760720" cy="246888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1731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FF"/>
                </a:solidFill>
              </a:rPr>
              <a:t>VEHICLE IDENTIFICATION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Reads license plates from live or recorded footage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Identifies vehicle type, color, and movement direction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Instant alerts on flagged or unauthorized vehicles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Supports access control, fleet monitoring, and investigations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760720" cy="246888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1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FF"/>
                </a:solidFill>
              </a:rPr>
              <a:t>FORENSIC VIDEO SEARCH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Search hours of footage in minutes -- not days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Find a person, vehicle, or object across dozens of feeds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Build incident timelines for investigations and legal review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No manual scrubbing -- results delivered automatically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931920"/>
            <a:ext cx="5760720" cy="246888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FF"/>
                </a:solidFill>
              </a:rPr>
              <a:t>PARKING MANAGEMENT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Real-time lot occupancy and entry/exit tracking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Automated alerts for capacity thresholds and violations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Usage analytics for revenue and operational decisions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Works with your existing lot cameras -- no new hardware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7607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FF"/>
                </a:solidFill>
              </a:rPr>
              <a:t>SAFETY &amp; COMPLIANCE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Automated detection of safety equipment and compliance status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Real-time alerts when safety standards are not met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Continuous monitoring replaces costly manual inspections</a:t>
            </a:r>
          </a:p>
          <a:p>
            <a:pPr algn="l"/>
            <a:r>
              <a:rPr sz="1100" b="0">
                <a:solidFill>
                  <a:srgbClr val="F1F5F9"/>
                </a:solidFill>
              </a:rPr>
              <a:t>Audit-ready logs for OSHA and regulatory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IntelliOptics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We built what the market was missing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11795760" cy="50292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WE DON'T REPLACE
YOUR CAMERAS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IntelliOptics is an intelligence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9535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added on top of what you already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483863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No rip-and-replace. No new hardware.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1421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Protect your existing investment.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WE DON'T NEED
MONTHS TO 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Traditional AI requires weeks of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535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collection and model training.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83863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IntelliOptics is live on Day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01421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No data scientists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WE DON'T SLEEP
OR GET DISTRACTED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Cameras are monitored continuously --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9535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24 hours a day, 7 days a week.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83863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Every alert is consistent, logged,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01421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and delivered in real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WE GROW WITH
YOUR 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Start with one site or one hundred.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9535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Add new detection rules anytime.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83863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New capabilities without reinstalling.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01421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Built for enterprise scale from day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Time to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Most AI platforms take months. IntelliOptics takes hours.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760720" cy="5029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1E1E"/>
                </a:solidFill>
              </a:rPr>
              <a:t>TRADITIONAL APPROACH</a:t>
            </a:r>
          </a:p>
          <a:p>
            <a:pPr algn="l"/>
            <a:r>
              <a:rPr sz="1100" b="0">
                <a:solidFill>
                  <a:srgbClr val="641E1E"/>
                </a:solidFill>
              </a:rPr>
              <a:t>Month 1-3:  Scoping, vendor selection, hardware quotes</a:t>
            </a:r>
          </a:p>
          <a:p>
            <a:pPr algn="l"/>
            <a:r>
              <a:rPr sz="1100" b="0">
                <a:solidFill>
                  <a:srgbClr val="641E1E"/>
                </a:solidFill>
              </a:rPr>
              <a:t>Month 3-6:  System installation and configuration</a:t>
            </a:r>
          </a:p>
          <a:p>
            <a:pPr algn="l"/>
            <a:r>
              <a:rPr sz="1100" b="0">
                <a:solidFill>
                  <a:srgbClr val="641E1E"/>
                </a:solidFill>
              </a:rPr>
              <a:t>Month 6-9:  AI training on your specific environment</a:t>
            </a:r>
          </a:p>
          <a:p>
            <a:pPr algn="l"/>
            <a:r>
              <a:rPr sz="1100" b="0">
                <a:solidFill>
                  <a:srgbClr val="641E1E"/>
                </a:solidFill>
              </a:rPr>
              <a:t>Month 9+:   Testing, tuning, and soft launch</a:t>
            </a:r>
          </a:p>
          <a:p>
            <a:pPr algn="l"/>
            <a:endParaRPr sz="1100" b="0">
              <a:solidFill>
                <a:srgbClr val="641E1E"/>
              </a:solidFill>
            </a:endParaRPr>
          </a:p>
          <a:p>
            <a:pPr algn="l"/>
            <a:r>
              <a:rPr sz="1100" b="0">
                <a:solidFill>
                  <a:srgbClr val="641E1E"/>
                </a:solidFill>
              </a:rPr>
              <a:t>Requires:  Specialist vendors, long contracts,</a:t>
            </a:r>
          </a:p>
          <a:p>
            <a:pPr algn="l"/>
            <a:r>
              <a:rPr sz="1100" b="0">
                <a:solidFill>
                  <a:srgbClr val="641E1E"/>
                </a:solidFill>
              </a:rPr>
              <a:t>           extensive IT involvement</a:t>
            </a:r>
          </a:p>
          <a:p>
            <a:pPr algn="l"/>
            <a:endParaRPr sz="1100" b="0">
              <a:solidFill>
                <a:srgbClr val="641E1E"/>
              </a:solidFill>
            </a:endParaRPr>
          </a:p>
          <a:p>
            <a:pPr algn="l"/>
            <a:r>
              <a:rPr sz="1100" b="0">
                <a:solidFill>
                  <a:srgbClr val="A01E1E"/>
                </a:solidFill>
              </a:rPr>
              <a:t>Risk:  After all that -- it may still not cover</a:t>
            </a:r>
          </a:p>
          <a:p>
            <a:pPr algn="l"/>
            <a:r>
              <a:rPr sz="1100" b="0">
                <a:solidFill>
                  <a:srgbClr val="A01E1E"/>
                </a:solidFill>
              </a:rPr>
              <a:t>       new scenarios outside its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760720" cy="5029200"/>
          </a:xfrm>
          <a:prstGeom prst="rect">
            <a:avLst/>
          </a:prstGeom>
          <a:solidFill>
            <a:srgbClr val="E6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32"/>
                </a:solidFill>
              </a:rPr>
              <a:t>INTELLIOPTICS 2.5</a:t>
            </a:r>
          </a:p>
          <a:p>
            <a:pPr algn="l"/>
            <a:r>
              <a:rPr sz="1100" b="0">
                <a:solidFill>
                  <a:srgbClr val="003C1E"/>
                </a:solidFill>
              </a:rPr>
              <a:t>Day 1, Morning:   Connect to your existing cameras</a:t>
            </a:r>
          </a:p>
          <a:p>
            <a:pPr algn="l"/>
            <a:r>
              <a:rPr sz="1100" b="0">
                <a:solidFill>
                  <a:srgbClr val="003C1E"/>
                </a:solidFill>
              </a:rPr>
              <a:t>Day 1, Afternoon: Detection rules configured</a:t>
            </a:r>
          </a:p>
          <a:p>
            <a:pPr algn="l"/>
            <a:r>
              <a:rPr sz="1100" b="0">
                <a:solidFill>
                  <a:srgbClr val="003C1E"/>
                </a:solidFill>
              </a:rPr>
              <a:t>Day 1, Evening:   Live monitoring active</a:t>
            </a:r>
          </a:p>
          <a:p>
            <a:pPr algn="l"/>
            <a:r>
              <a:rPr sz="1100" b="0">
                <a:solidFill>
                  <a:srgbClr val="003C1E"/>
                </a:solidFill>
              </a:rPr>
              <a:t>Day 2+:           Alerts, reports, and insights flowing</a:t>
            </a:r>
          </a:p>
          <a:p>
            <a:pPr algn="l"/>
            <a:endParaRPr sz="1100" b="0">
              <a:solidFill>
                <a:srgbClr val="003C1E"/>
              </a:solidFill>
            </a:endParaRPr>
          </a:p>
          <a:p>
            <a:pPr algn="l"/>
            <a:r>
              <a:rPr sz="1100" b="0">
                <a:solidFill>
                  <a:srgbClr val="003C1E"/>
                </a:solidFill>
              </a:rPr>
              <a:t>Requires:  Your existing camera infrastructure.</a:t>
            </a:r>
          </a:p>
          <a:p>
            <a:pPr algn="l"/>
            <a:r>
              <a:rPr sz="1100" b="1">
                <a:solidFill>
                  <a:srgbClr val="006432"/>
                </a:solidFill>
              </a:rPr>
              <a:t>           Nothing else.</a:t>
            </a:r>
          </a:p>
          <a:p>
            <a:pPr algn="l"/>
            <a:endParaRPr sz="1100" b="1">
              <a:solidFill>
                <a:srgbClr val="006432"/>
              </a:solidFill>
            </a:endParaRPr>
          </a:p>
          <a:p>
            <a:pPr algn="l"/>
            <a:r>
              <a:rPr sz="1100" b="1">
                <a:solidFill>
                  <a:srgbClr val="006432"/>
                </a:solidFill>
              </a:rPr>
              <a:t>Result:  Immediate coverage. No waiting.</a:t>
            </a:r>
          </a:p>
          <a:p>
            <a:pPr algn="l"/>
            <a:r>
              <a:rPr sz="1100" b="1">
                <a:solidFill>
                  <a:srgbClr val="006432"/>
                </a:solidFill>
              </a:rPr>
              <a:t>         Adapts to new scenarios on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Simple to deploy. Powerful from day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2212848" cy="43891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CONNECT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03120"/>
            <a:ext cx="5486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Point IntelliOptics at
your existing cameras.
No new hardware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6" y="31089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</a:rPr>
              <a:t>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371600"/>
            <a:ext cx="2212848" cy="43891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3472" y="1508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CONFIGURE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103120"/>
            <a:ext cx="5486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33472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Define what matters
to your operation.
Custom rules in plain language.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1089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</a:rPr>
              <a:t>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1184" y="1371600"/>
            <a:ext cx="2212848" cy="4389120"/>
          </a:xfrm>
          <a:prstGeom prst="rect">
            <a:avLst/>
          </a:prstGeom>
          <a:solidFill>
            <a:srgbClr val="00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92624" y="1508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DETECT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24144" y="2103120"/>
            <a:ext cx="5486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2624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IntelliOptics watches
every feed, every second,
automatically.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1089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</a:rPr>
              <a:t>&gt;&gt;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0336" y="1371600"/>
            <a:ext cx="2212848" cy="4389120"/>
          </a:xfrm>
          <a:prstGeom prst="rect">
            <a:avLst/>
          </a:prstGeom>
          <a:solidFill>
            <a:srgbClr val="004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1776" y="1508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ALERT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2103120"/>
            <a:ext cx="5486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1776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Instant notifications
when something needs
your attention.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1089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</a:rPr>
              <a:t>&gt;&gt;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9488" y="1371600"/>
            <a:ext cx="2212848" cy="4389120"/>
          </a:xfrm>
          <a:prstGeom prst="rect">
            <a:avLst/>
          </a:prstGeom>
          <a:solidFill>
            <a:srgbClr val="00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10928" y="1508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2448" y="2103120"/>
            <a:ext cx="5486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0928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Dashboards, trends,
and audit logs delivered
on your schedule.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598932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8CC8"/>
                </a:solidFill>
              </a:rPr>
              <a:t>Works with any IP camera system. No replacement. No disruption. No downtime.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651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"IntelliOptics delivered measurable ROI before year one was over.
The automated monitoring alone replaced hours of daily manual review.
We now have confidence that our cameras are working -- all of them, all the time."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9FF"/>
                </a:solidFill>
              </a:rPr>
              <a:t>$57,000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 reduced labor and equipment costs over 3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4C8E6"/>
                </a:solidFill>
              </a:rPr>
              <a:t>- ST. LOUIS POLICE DEPARTMENT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4023360"/>
            <a:ext cx="5212080" cy="7315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413308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LIVE ON DAY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983480"/>
            <a:ext cx="5212080" cy="73152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509320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ZERO NEW HARDWARE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5897880"/>
            <a:ext cx="52120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600760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CONTINUOUS 24/7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Our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C9FF"/>
                </a:solidFill>
              </a:rPr>
              <a:t>We make sure your surveillance is working -- when it matters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430000" cy="4572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Real-time monitoring across every camera in your 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97480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Early warnings before coverage gaps become liabilities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02152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Instant alerts -- never discover a failure after the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502152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Complete audit trail ready for compliance and investigations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06824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Operational from day one -- no disruption to your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06824"/>
            <a:ext cx="5577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Peace of mind when it matters: audits, incidents, and beyond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11430000" cy="64008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9FF"/>
                </a:solidFill>
              </a:rPr>
              <a:t>IntelliOptics 2.5  -  Your cameras. Comprehended.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9FF"/>
                </a:solidFill>
              </a:rPr>
              <a:t>IntelliOptics 2.5  -  AI-Powered Visual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6309360" cy="246888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612648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</a:rPr>
              <a:t>Haile </a:t>
            </a:r>
            <a:r>
              <a:rPr sz="1800" b="1" dirty="0" err="1">
                <a:solidFill>
                  <a:srgbClr val="FFFFFF"/>
                </a:solidFill>
              </a:rPr>
              <a:t>Hantal</a:t>
            </a:r>
            <a:endParaRPr sz="1800" b="1" dirty="0">
              <a:solidFill>
                <a:srgbClr val="FFFFFF"/>
              </a:solidFill>
            </a:endParaRPr>
          </a:p>
          <a:p>
            <a:pPr algn="ctr"/>
            <a:r>
              <a:rPr sz="1400" b="0" dirty="0">
                <a:solidFill>
                  <a:srgbClr val="00C9FF"/>
                </a:solidFill>
              </a:rPr>
              <a:t>Co-Founder, CXO</a:t>
            </a:r>
          </a:p>
          <a:p>
            <a:pPr algn="ctr"/>
            <a:r>
              <a:rPr sz="1300" b="0" dirty="0">
                <a:solidFill>
                  <a:srgbClr val="FFFFFF"/>
                </a:solidFill>
              </a:rPr>
              <a:t>314-760-7007</a:t>
            </a:r>
          </a:p>
          <a:p>
            <a:pPr algn="ctr"/>
            <a:r>
              <a:rPr lang="en-US" sz="1300" dirty="0">
                <a:solidFill>
                  <a:srgbClr val="FFFFFF"/>
                </a:solidFill>
              </a:rPr>
              <a:t>hhantal</a:t>
            </a:r>
            <a:r>
              <a:rPr sz="1300" b="0" dirty="0">
                <a:solidFill>
                  <a:srgbClr val="FFFFFF"/>
                </a:solidFill>
              </a:rPr>
              <a:t>@4wardmotions.com</a:t>
            </a:r>
          </a:p>
          <a:p>
            <a:pPr algn="ctr"/>
            <a:r>
              <a:rPr sz="1300" b="0" dirty="0">
                <a:solidFill>
                  <a:srgbClr val="00C9FF"/>
                </a:solidFill>
              </a:rPr>
              <a:t>www.</a:t>
            </a:r>
            <a:r>
              <a:rPr lang="en-US" sz="1300" dirty="0">
                <a:solidFill>
                  <a:srgbClr val="00C9FF"/>
                </a:solidFill>
              </a:rPr>
              <a:t>4wardmotions</a:t>
            </a:r>
            <a:r>
              <a:rPr sz="1300" b="0" dirty="0">
                <a:solidFill>
                  <a:srgbClr val="00C9FF"/>
                </a:solidFill>
              </a:rPr>
              <a:t>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1223</Words>
  <Application>Microsoft Office PowerPoint</Application>
  <PresentationFormat>Widescreen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Jesse Morgan</cp:lastModifiedBy>
  <cp:revision>2</cp:revision>
  <dcterms:created xsi:type="dcterms:W3CDTF">2013-01-27T09:14:16Z</dcterms:created>
  <dcterms:modified xsi:type="dcterms:W3CDTF">2026-04-01T05:09:02Z</dcterms:modified>
  <cp:category/>
</cp:coreProperties>
</file>